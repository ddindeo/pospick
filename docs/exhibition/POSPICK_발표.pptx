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8" d="100"/>
          <a:sy n="88" d="100"/>
        </p:scale>
        <p:origin x="120" y="7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64885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실제로 겪은 문제와 해결 과정으로 바꿔서 이야기하면 좋음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6400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POSPICK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097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컴퓨터SW 졸업작품 최종 발표</a:t>
            </a:r>
            <a:endParaRPr lang="en-US" sz="16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6459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</a:t>
            </a:r>
            <a:r>
              <a:rPr lang="en-US" sz="80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PICK</a:t>
            </a:r>
            <a:endParaRPr lang="en-US" sz="8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</a:t>
            </a: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r>
              <a:rPr lang="en-US" sz="24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부스</a:t>
            </a:r>
            <a:r>
              <a:rPr lang="ko-KR" alt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를 </a:t>
            </a:r>
            <a:r>
              <a:rPr lang="en-US" sz="2400" b="1" dirty="0" err="1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위한</a:t>
            </a: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웹 POS 시스템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65760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단말기 없이, URL 하나로 시작하는 현장 판매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51206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컴퓨터SW 21017019  김진서</a:t>
            </a:r>
            <a:endParaRPr lang="en-US" sz="1600" dirty="0"/>
          </a:p>
        </p:txBody>
      </p:sp>
      <p:sp>
        <p:nvSpPr>
          <p:cNvPr id="7" name="photo: 메인 화면 캡처"/>
          <p:cNvSpPr/>
          <p:nvPr/>
        </p:nvSpPr>
        <p:spPr>
          <a:xfrm>
            <a:off x="6766560" y="914400"/>
            <a:ext cx="4785055" cy="493776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6766560" y="914400"/>
            <a:ext cx="4785055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메인 화면 캡처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CONTENTS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배경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800" dirty="0"/>
          </a:p>
        </p:txBody>
      </p:sp>
      <p:sp>
        <p:nvSpPr>
          <p:cNvPr id="7" name="Text 5"/>
          <p:cNvSpPr txBox="1"/>
          <p:nvPr/>
        </p:nvSpPr>
        <p:spPr>
          <a:xfrm>
            <a:off x="155448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정의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800" dirty="0"/>
          </a:p>
        </p:txBody>
      </p:sp>
      <p:sp>
        <p:nvSpPr>
          <p:cNvPr id="9" name="Text 7"/>
          <p:cNvSpPr txBox="1"/>
          <p:nvPr/>
        </p:nvSpPr>
        <p:spPr>
          <a:xfrm>
            <a:off x="155448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서비스와 차별점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892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800" dirty="0"/>
          </a:p>
        </p:txBody>
      </p:sp>
      <p:sp>
        <p:nvSpPr>
          <p:cNvPr id="11" name="Text 9"/>
          <p:cNvSpPr txBox="1"/>
          <p:nvPr/>
        </p:nvSpPr>
        <p:spPr>
          <a:xfrm>
            <a:off x="1554480" y="4937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설계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0" y="201168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0" y="205740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97180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800" dirty="0"/>
          </a:p>
        </p:txBody>
      </p:sp>
      <p:sp>
        <p:nvSpPr>
          <p:cNvPr id="15" name="Text 13"/>
          <p:cNvSpPr txBox="1"/>
          <p:nvPr/>
        </p:nvSpPr>
        <p:spPr>
          <a:xfrm>
            <a:off x="6858000" y="301752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기술적 고민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5943600" y="393192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800" dirty="0"/>
          </a:p>
        </p:txBody>
      </p:sp>
      <p:sp>
        <p:nvSpPr>
          <p:cNvPr id="17" name="Text 15"/>
          <p:cNvSpPr txBox="1"/>
          <p:nvPr/>
        </p:nvSpPr>
        <p:spPr>
          <a:xfrm>
            <a:off x="6858000" y="397764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4892040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8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6858000" y="4937760"/>
            <a:ext cx="4114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향후 계획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  프로젝트 배경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현금과 계좌이체로 움직이는 행사 부스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코믹월드 같은 동인 행사, 플리마켓, 대학 축제에서 부스를 운영하는 개인 판매자는 대부분 현금과 계좌이체로 거래합니다.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2004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하지만 기존 모바일 POS 앱은 카드 단말기 · 사업자등록 · 월 구독료를 전제로 설계되어 있어 개인 판매자에게 맞지 않습니다.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3</a:t>
            </a:fld>
            <a:endParaRPr lang="en-US"/>
          </a:p>
        </p:txBody>
      </p:sp>
      <p:sp>
        <p:nvSpPr>
          <p:cNvPr id="11" name="Text 3">
            <a:extLst>
              <a:ext uri="{FF2B5EF4-FFF2-40B4-BE49-F238E27FC236}">
                <a16:creationId xmlns:a16="http://schemas.microsoft.com/office/drawing/2014/main" id="{BDF45E5D-C024-BDE9-D93F-1739779E6DEE}"/>
              </a:ext>
            </a:extLst>
          </p:cNvPr>
          <p:cNvSpPr txBox="1"/>
          <p:nvPr/>
        </p:nvSpPr>
        <p:spPr>
          <a:xfrm>
            <a:off x="640080" y="457200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ko-KR" altLang="en-US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또한 행사를 주최한 주최자는 여러 부스들의 정보를 하나씩 얻기 어려운 환경을 가지고 있습니다</a:t>
            </a:r>
            <a:r>
              <a:rPr lang="en-US" altLang="ko-KR" sz="17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.</a:t>
            </a:r>
            <a:endParaRPr lang="en-US" sz="1700" dirty="0"/>
          </a:p>
        </p:txBody>
      </p:sp>
      <p:pic>
        <p:nvPicPr>
          <p:cNvPr id="12" name="그림 11" descr="풍경기] 애니와 만화만 있는 게 아니야! 서코에 출동한 '시노앨리스' &amp; '크퀘' | 웹진 인벤">
            <a:extLst>
              <a:ext uri="{FF2B5EF4-FFF2-40B4-BE49-F238E27FC236}">
                <a16:creationId xmlns:a16="http://schemas.microsoft.com/office/drawing/2014/main" id="{1735C1C4-947E-3F2C-E1EE-EEB2C2E66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847" y="1783080"/>
            <a:ext cx="5780315" cy="385354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  문제 정의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현장에서 반복되는 네 가지 문제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암산 · 거스름돈 실수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41732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손님이 몰리는 시간에 합계와 거스름돈을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머릿속으로 계산하다 생기는 오류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309360" y="1920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7086600" y="19202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수기 매출 정리</a:t>
            </a:r>
            <a:endParaRPr lang="en-US" sz="2200" dirty="0"/>
          </a:p>
        </p:txBody>
      </p:sp>
      <p:sp>
        <p:nvSpPr>
          <p:cNvPr id="9" name="Text 7"/>
          <p:cNvSpPr txBox="1"/>
          <p:nvPr/>
        </p:nvSpPr>
        <p:spPr>
          <a:xfrm>
            <a:off x="7086600" y="2377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행사가 끝난 뒤 판매 내역을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노트나 메모장에서 다시 정리하는 번거로움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파악 어려움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389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얼마나 남았는지 몰라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품절 안내가 늦거나 재고가 남는 상황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6309360" y="3931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7086600" y="39319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주최측 데이터 부재</a:t>
            </a:r>
            <a:endParaRPr lang="en-US" sz="2200" dirty="0"/>
          </a:p>
        </p:txBody>
      </p:sp>
      <p:sp>
        <p:nvSpPr>
          <p:cNvPr id="15" name="Text 13"/>
          <p:cNvSpPr txBox="1"/>
          <p:nvPr/>
        </p:nvSpPr>
        <p:spPr>
          <a:xfrm>
            <a:off x="7086600" y="438912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주최측은 어떤 부스와 품목이 잘 팔렸는지</a:t>
            </a:r>
            <a:endParaRPr lang="en-US" sz="16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 수 없어 다음 행사 기획이 어려움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  기존 서비스와 차별점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개인 판매자에게 맞춘 POS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2499413"/>
              </p:ext>
            </p:extLst>
          </p:nvPr>
        </p:nvGraphicFramePr>
        <p:xfrm>
          <a:off x="640080" y="1783080"/>
          <a:ext cx="10911535" cy="3584448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31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053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항목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기존 POS 앱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4F46E5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POSPICK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사업자등록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9050" cap="flat" cmpd="sng" algn="ctr">
                      <a:solidFill>
                        <a:srgbClr val="1E293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카드 단말기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필수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불필요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 단위 운영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없음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행사별 데이터 분리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구독료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월 1~5만 원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무료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설치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앱스토어 다운로드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URL 접속만으로 실행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120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00000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지원 환경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8A919C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Android 위주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1E293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iOS · Android · PC</a:t>
                      </a:r>
                      <a:endParaRPr lang="en-US" sz="16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C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시스템 설계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시스템 구조 및 기술 스택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Frontend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94560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React 19 · Vite · React Router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 · SheetJS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852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Backend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18688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Java · Spring Boot 4</a:t>
            </a:r>
            <a:endParaRPr lang="en-US" sz="14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Spring Security · JWT · JPA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87705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Database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242816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MySQL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90118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Cloud · AI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66944"/>
            <a:ext cx="3840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AWS S3 · Google Gemini API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6</a:t>
            </a:fld>
            <a:endParaRPr lang="en-US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DD4FF66E-9750-9F4C-7F93-EB17FE159C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3972" y="1241298"/>
            <a:ext cx="4969003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시스템 설계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서비스 사용 흐름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주최자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생성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수집 옵션 설정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2458669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판매자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2458669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신청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2458669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 수집 동의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4277258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주최자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4277258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/ 거절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4277258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신청 목록 관리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095848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판매자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095848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6095848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S3 업로드 · AI 분류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7914437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판매자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914437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판매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7914437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자동 차감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9733026" y="178308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r>
              <a:rPr lang="en-US" sz="11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공통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733026" y="2148840"/>
            <a:ext cx="17271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· 정산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9733026" y="2514600"/>
            <a:ext cx="1727149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차트 · 엑셀 추출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7</a:t>
            </a:fld>
            <a:endParaRPr lang="en-US"/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13B52C2B-F332-A07C-A5AE-8148395F043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848" y="2880360"/>
            <a:ext cx="9143999" cy="356406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  시스템 설계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데이터베이스 설계 (ERD)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6002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User · Event · Participation · Product · Order · OrderItem 6개 엔티티로 행사 단위 데이터를 분리해 저장합니다.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8</a:t>
            </a:fld>
            <a:endParaRPr 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CBD730C-FB56-33C9-F95F-57CDB0BD71A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475" y="3003082"/>
            <a:ext cx="11025050" cy="3046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주요 기능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및 참가 관리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24028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생성 · 삭제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매출 · 재고 수집 옵션 설정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신청 승인 / 거절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5204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977640"/>
            <a:ext cx="3657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검색 후 참가 신청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주최측 수집 옵션에 동의해야 신청 가능</a:t>
            </a:r>
            <a:endParaRPr lang="en-US" sz="15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시각(agreedAt) 기록</a:t>
            </a:r>
            <a:endParaRPr lang="en-US" sz="1500" dirty="0"/>
          </a:p>
        </p:txBody>
      </p:sp>
      <p:sp>
        <p:nvSpPr>
          <p:cNvPr id="8" name="photo: 행사 생성 화면"/>
          <p:cNvSpPr/>
          <p:nvPr/>
        </p:nvSpPr>
        <p:spPr>
          <a:xfrm>
            <a:off x="4572000" y="1737360"/>
            <a:ext cx="335264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 txBox="1"/>
          <p:nvPr/>
        </p:nvSpPr>
        <p:spPr>
          <a:xfrm>
            <a:off x="4572000" y="1737360"/>
            <a:ext cx="335264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행사 생성 화면</a:t>
            </a:r>
            <a:endParaRPr lang="en-US" sz="1200" dirty="0"/>
          </a:p>
        </p:txBody>
      </p:sp>
      <p:sp>
        <p:nvSpPr>
          <p:cNvPr id="10" name="photo: 참가 신청 승인 화면"/>
          <p:cNvSpPr/>
          <p:nvPr/>
        </p:nvSpPr>
        <p:spPr>
          <a:xfrm>
            <a:off x="8198968" y="1737360"/>
            <a:ext cx="335264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9"/>
          <p:cNvSpPr txBox="1"/>
          <p:nvPr/>
        </p:nvSpPr>
        <p:spPr>
          <a:xfrm>
            <a:off x="8198968" y="1737360"/>
            <a:ext cx="335264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참가 신청 승인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주요 기능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등록과 AI 자동 분류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6576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이름 · 가격 · 재고 · 이미지로 상품 등록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이미지는 AWS S3에 업로드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Gemini가 카테고리 · 신뢰도 반환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분류할 수 없으면 '기타'로 처리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재고가 적으면 매진 임박 뱃지 표시</a:t>
            </a:r>
            <a:endParaRPr lang="en-US" sz="1500" dirty="0"/>
          </a:p>
        </p:txBody>
      </p:sp>
      <p:sp>
        <p:nvSpPr>
          <p:cNvPr id="5" name="photo: 상품 등록 화면"/>
          <p:cNvSpPr/>
          <p:nvPr/>
        </p:nvSpPr>
        <p:spPr>
          <a:xfrm>
            <a:off x="4572000" y="1737360"/>
            <a:ext cx="335264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572000" y="1737360"/>
            <a:ext cx="335264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등록 화면</a:t>
            </a:r>
            <a:endParaRPr lang="en-US" sz="1200" dirty="0"/>
          </a:p>
        </p:txBody>
      </p:sp>
      <p:sp>
        <p:nvSpPr>
          <p:cNvPr id="7" name="photo: AI 분류 결과 화면"/>
          <p:cNvSpPr/>
          <p:nvPr/>
        </p:nvSpPr>
        <p:spPr>
          <a:xfrm>
            <a:off x="8198968" y="1737360"/>
            <a:ext cx="335264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198968" y="1737360"/>
            <a:ext cx="335264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분류 결과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주요 기능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결제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 이미지를 눌러 선택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합계 자동 계산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현금: 거스름돈 자동 계산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계좌이체: 바로 결제 완료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즉시 재고 차감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취소 시 재고 복구</a:t>
            </a:r>
            <a:endParaRPr lang="en-US" sz="1500" dirty="0"/>
          </a:p>
        </p:txBody>
      </p:sp>
      <p:sp>
        <p:nvSpPr>
          <p:cNvPr id="5" name="photo: POS 결제 화면 (상품 그리드 + 장바구니)"/>
          <p:cNvSpPr/>
          <p:nvPr/>
        </p:nvSpPr>
        <p:spPr>
          <a:xfrm>
            <a:off x="4206240" y="1737360"/>
            <a:ext cx="7345375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7345375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POS 결제 화면 (상품 그리드 + 장바구니)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  주요 기능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대시보드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3291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 수단별 매출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시간대별 판매 피크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상품별 재고 소진율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Chart.js 차트 (Bar · Line · Pie)</a:t>
            </a:r>
            <a:endParaRPr lang="en-US" sz="15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SheetJS로 엑셀 내보내기</a:t>
            </a:r>
            <a:endParaRPr lang="en-US" sz="1500" dirty="0"/>
          </a:p>
        </p:txBody>
      </p:sp>
      <p:sp>
        <p:nvSpPr>
          <p:cNvPr id="5" name="photo: 판매자 통계 화면"/>
          <p:cNvSpPr/>
          <p:nvPr/>
        </p:nvSpPr>
        <p:spPr>
          <a:xfrm>
            <a:off x="4206240" y="1737360"/>
            <a:ext cx="353552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 txBox="1"/>
          <p:nvPr/>
        </p:nvSpPr>
        <p:spPr>
          <a:xfrm>
            <a:off x="4206240" y="1737360"/>
            <a:ext cx="35355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판매자 통계 화면</a:t>
            </a:r>
            <a:endParaRPr lang="en-US" sz="1200" dirty="0"/>
          </a:p>
        </p:txBody>
      </p:sp>
      <p:sp>
        <p:nvSpPr>
          <p:cNvPr id="7" name="photo: 주최자 통계 화면"/>
          <p:cNvSpPr/>
          <p:nvPr/>
        </p:nvSpPr>
        <p:spPr>
          <a:xfrm>
            <a:off x="8016088" y="1737360"/>
            <a:ext cx="3535528" cy="438912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8" name="Text 6"/>
          <p:cNvSpPr txBox="1"/>
          <p:nvPr/>
        </p:nvSpPr>
        <p:spPr>
          <a:xfrm>
            <a:off x="8016088" y="1737360"/>
            <a:ext cx="3535528" cy="4389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 통계 화면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  기술적 고민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구현하면서 고민한 부분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4231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재고 정합성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971800"/>
            <a:ext cx="3393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주문 생성 시 재고를 먼저 확인하고 부족하면 거절합니다. 재고 차감과 주문 저장을 하나의 트랜잭션으로 묶고, 주문 취소 시 같은 방식으로 재고를 복구합니다.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399178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4399178" y="24231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동의 기반 데이터 공유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4399178" y="2971800"/>
            <a:ext cx="3393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주최측이 수집 옵션을 켠 행사는 판매자가 동의해야 참가 신청할 수 있습니다. 동의 여부와 시각을 기록해 데이터 열람 권한의 근거로 사용합니다.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8158277" y="19202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8158277" y="2423160"/>
            <a:ext cx="339333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분류 결과 처리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8158277" y="2971800"/>
            <a:ext cx="3393338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4B556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Gemini가 메인 · 서브 카테고리와 신뢰도를 JSON으로 답하도록 프롬프트를 설계했습니다. 응답이 비정상이면 '기타'로 대체해 상품 등록이 막히지 않게 했습니다.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  시연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</a:t>
            </a:r>
            <a:endParaRPr lang="en-US" sz="3200" dirty="0"/>
          </a:p>
        </p:txBody>
      </p:sp>
      <p:sp>
        <p:nvSpPr>
          <p:cNvPr id="4" name="photo: 시연 영상 (행사 생성 → 참가 → 상품 등록 → 결제 → 통계)"/>
          <p:cNvSpPr/>
          <p:nvPr/>
        </p:nvSpPr>
        <p:spPr>
          <a:xfrm>
            <a:off x="640080" y="1691640"/>
            <a:ext cx="10911535" cy="4434840"/>
          </a:xfrm>
          <a:prstGeom prst="rect">
            <a:avLst/>
          </a:prstGeom>
          <a:solidFill>
            <a:srgbClr val="EEF0F3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 txBox="1"/>
          <p:nvPr/>
        </p:nvSpPr>
        <p:spPr>
          <a:xfrm>
            <a:off x="640080" y="1691640"/>
            <a:ext cx="10911535" cy="4434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사진</a:t>
            </a:r>
            <a:endParaRPr lang="en-US" sz="12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8A919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시연 영상 (행사 생성 → 참가 → 상품 등록 → 결제 → 통계)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4F46E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  결론 및 향후 계획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77240"/>
            <a:ext cx="1091153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향후 계획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51206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단말기 없이 현금 · 계좌이체 판매를 기록하는 웹 POS 구현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결제와 동시에 재고 차감, 행사 단위 매출 통계 자동화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주최자와 판매자 간 동의 기반 데이터 공유 구조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0" y="1828800"/>
            <a:ext cx="5120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계획</a:t>
            </a:r>
            <a:endParaRPr lang="en-US" sz="2200" dirty="0"/>
          </a:p>
        </p:txBody>
      </p:sp>
      <p:sp>
        <p:nvSpPr>
          <p:cNvPr id="7" name="Text 5"/>
          <p:cNvSpPr txBox="1"/>
          <p:nvPr/>
        </p:nvSpPr>
        <p:spPr>
          <a:xfrm>
            <a:off x="6400800" y="2377440"/>
            <a:ext cx="5150815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PWA 적용으로 행사장 와이파이 불안정 시 오프라인 동작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외부 서버 배포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PDF 리포트 추출</a:t>
            </a:r>
            <a:endParaRPr lang="en-US" sz="1600" dirty="0"/>
          </a:p>
          <a:p>
            <a:pPr marL="203200" indent="-203200">
              <a:spcAft>
                <a:spcPts val="800"/>
              </a:spcAft>
              <a:buSzPct val="100000"/>
              <a:buChar char="•"/>
            </a:pPr>
            <a:r>
              <a:rPr lang="en-US" sz="1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비정상 재고 변동 · 매출 흐름 감지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77440"/>
            <a:ext cx="10911535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1E293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5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02975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8A919C"/>
                </a:solidFill>
                <a:latin typeface="Malgun Gothic"/>
                <a:ea typeface="Malgun Gothic"/>
                <a:cs typeface="Malgun Gothic"/>
              </a:defRPr>
            </a:lvl1pPr>
          </a:lstStyle>
          <a:p>
            <a:pPr algn="r"/>
            <a:fld id="{F7021451-1387-4CA6-816F-3879F97B5CBC}" type="slidenum">
              <a:rPr lang="en-US" b="0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</TotalTime>
  <Words>752</Words>
  <Application>Microsoft Office PowerPoint</Application>
  <PresentationFormat>와이드스크린</PresentationFormat>
  <Paragraphs>212</Paragraphs>
  <Slides>16</Slides>
  <Notes>16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19" baseType="lpstr">
      <vt:lpstr>Malgun Gothic</vt:lpstr>
      <vt:lpstr>Arial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POSPICK 최종 발표</dc:title>
  <dc:subject>PptxGenJS Presentation</dc:subject>
  <dc:creator>김진서</dc:creator>
  <cp:lastModifiedBy>진서 김</cp:lastModifiedBy>
  <cp:revision>3</cp:revision>
  <dcterms:created xsi:type="dcterms:W3CDTF">2026-10-11T06:59:02Z</dcterms:created>
  <dcterms:modified xsi:type="dcterms:W3CDTF">2026-10-12T08:06:15Z</dcterms:modified>
</cp:coreProperties>
</file>